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Cars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Petrol</c:v>
                </c:pt>
                <c:pt idx="1">
                  <c:v>Diesel</c:v>
                </c:pt>
                <c:pt idx="2">
                  <c:v>CNG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239</c:v>
                </c:pt>
                <c:pt idx="1">
                  <c:v>58</c:v>
                </c:pt>
                <c:pt idx="2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Cars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Dealer</c:v>
                </c:pt>
                <c:pt idx="1">
                  <c:v>Individual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193</c:v>
                </c:pt>
                <c:pt idx="1">
                  <c:v>106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CarDekho Car Market Trends Analysis</a:t>
            </a:r>
          </a:p>
          <a:p>
            <a:pPr>
              <a:defRPr sz="2100">
                <a:solidFill>
                  <a:srgbClr val="CDDCF0"/>
                </a:solidFill>
              </a:defRPr>
            </a:pPr>
            <a:r>
              <a:t>Exploratory Data Analysis of Used-Car Market Data</a:t>
            </a:r>
          </a:p>
          <a:p>
            <a:pPr>
              <a:defRPr sz="1400">
                <a:solidFill>
                  <a:srgbClr val="AFC3DC"/>
                </a:solidFill>
              </a:defRPr>
            </a:pPr>
            <a:r>
              <a:t>Based on the uploaded CarDekho analysis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What the notebook analyzes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74320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81912"/>
            <a:ext cx="2340864" cy="1088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Dataset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301 rows</a:t>
            </a:r>
          </a:p>
          <a:p>
            <a:pPr>
              <a:defRPr sz="1000">
                <a:solidFill>
                  <a:srgbClr val="69737D"/>
                </a:solidFill>
              </a:defRPr>
            </a:pPr>
            <a:r>
              <a:t>Initial dataset size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417320"/>
            <a:ext cx="274320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04487" y="1581912"/>
            <a:ext cx="2340864" cy="1088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Variables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9 columns</a:t>
            </a:r>
          </a:p>
          <a:p>
            <a:pPr>
              <a:defRPr sz="1000">
                <a:solidFill>
                  <a:srgbClr val="69737D"/>
                </a:solidFill>
              </a:defRPr>
            </a:pPr>
            <a:r>
              <a:t>Vehicle, price and market attributes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1417320"/>
            <a:ext cx="274320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22007" y="1581912"/>
            <a:ext cx="2340864" cy="1088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Car Names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98 unique</a:t>
            </a:r>
          </a:p>
          <a:p>
            <a:pPr>
              <a:defRPr sz="1000">
                <a:solidFill>
                  <a:srgbClr val="69737D"/>
                </a:solidFill>
              </a:defRPr>
            </a:pPr>
            <a:r>
              <a:t>City is the most frequent name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1417320"/>
            <a:ext cx="173736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39528" y="1581912"/>
            <a:ext cx="1335024" cy="1088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Period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2003–2018</a:t>
            </a:r>
          </a:p>
          <a:p>
            <a:pPr>
              <a:defRPr sz="1000">
                <a:solidFill>
                  <a:srgbClr val="69737D"/>
                </a:solidFill>
              </a:defRPr>
            </a:pPr>
            <a:r>
              <a:t>Year range in the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46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A32"/>
                </a:solidFill>
              </a:defRPr>
            </a:pPr>
            <a:r>
              <a:t>• Goal: understand basic patterns in used-car prices and vehicle characteristics.</a:t>
            </a:r>
          </a:p>
          <a:p>
            <a:pPr>
              <a:spcAft>
                <a:spcPts val="1400"/>
              </a:spcAft>
              <a:defRPr sz="1700">
                <a:solidFill>
                  <a:srgbClr val="232A32"/>
                </a:solidFill>
              </a:defRPr>
            </a:pPr>
            <a:r>
              <a:t>• Key dimensions: fuel type, seller type, transmission, kilometers driven and selling price.</a:t>
            </a:r>
          </a:p>
          <a:p>
            <a:pPr>
              <a:spcAft>
                <a:spcPts val="1400"/>
              </a:spcAft>
              <a:defRPr sz="1700">
                <a:solidFill>
                  <a:srgbClr val="232A32"/>
                </a:solidFill>
              </a:defRPr>
            </a:pPr>
            <a:r>
              <a:t>• The notebook uses pandas, NumPy, Matplotlib and Seaborn for analysis and visualization.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Cleaning steps performed in the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A32"/>
                </a:solidFill>
              </a:defRPr>
            </a:pPr>
            <a:r>
              <a:t>• Detected 2 duplicate rows and removed them.</a:t>
            </a:r>
          </a:p>
          <a:p>
            <a:pPr>
              <a:spcAft>
                <a:spcPts val="1400"/>
              </a:spcAft>
              <a:defRPr sz="1700">
                <a:solidFill>
                  <a:srgbClr val="232A32"/>
                </a:solidFill>
              </a:defRPr>
            </a:pPr>
            <a:r>
              <a:t>• Checked missing values; the final missing-value check returned no remaining missing values.</a:t>
            </a:r>
          </a:p>
          <a:p>
            <a:pPr>
              <a:spcAft>
                <a:spcPts val="1400"/>
              </a:spcAft>
              <a:defRPr sz="1700">
                <a:solidFill>
                  <a:srgbClr val="232A32"/>
                </a:solidFill>
              </a:defRPr>
            </a:pPr>
            <a:r>
              <a:t>• Standardized Fuel_Type labels such as Petrol, Diesel and CNG.</a:t>
            </a:r>
          </a:p>
          <a:p>
            <a:pPr>
              <a:spcAft>
                <a:spcPts val="1400"/>
              </a:spcAft>
              <a:defRPr sz="1700">
                <a:solidFill>
                  <a:srgbClr val="232A32"/>
                </a:solidFill>
              </a:defRPr>
            </a:pPr>
            <a:r>
              <a:t>• Validated Year and Kms_Driven values and replaced invalid values with NaN before median imputation.</a:t>
            </a:r>
          </a:p>
          <a:p>
            <a:pPr>
              <a:spcAft>
                <a:spcPts val="1400"/>
              </a:spcAft>
              <a:defRPr sz="1700">
                <a:solidFill>
                  <a:srgbClr val="232A32"/>
                </a:solidFill>
              </a:defRPr>
            </a:pPr>
            <a:r>
              <a:t>• Used median imputation for numerical fields and 'Unknown' for selected categorical fields.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Dataset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Variables used in the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2900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99032"/>
            <a:ext cx="3026664" cy="905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Car_Name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Vehicle model/name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234440"/>
            <a:ext cx="342900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399032"/>
            <a:ext cx="3026664" cy="905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Year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Manufacturing year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234440"/>
            <a:ext cx="342900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76488" y="1399032"/>
            <a:ext cx="3026664" cy="905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Selling_Price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Sale price (₹ lakh)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788920"/>
            <a:ext cx="342900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953512"/>
            <a:ext cx="3026664" cy="905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Present_Price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Current/market price (₹ lakh)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788920"/>
            <a:ext cx="342900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953512"/>
            <a:ext cx="3026664" cy="905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Kms_Driven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Kilometers driven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788920"/>
            <a:ext cx="342900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2953512"/>
            <a:ext cx="3026664" cy="905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Fuel_Type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Petrol / Diesel / CNG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343400"/>
            <a:ext cx="342900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4507992"/>
            <a:ext cx="3026664" cy="905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Seller_Type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Dealer / Individual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4343400"/>
            <a:ext cx="342900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4507992"/>
            <a:ext cx="3026664" cy="905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Transmission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Manual / Automatic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4343400"/>
            <a:ext cx="342900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76488" y="4507992"/>
            <a:ext cx="3026664" cy="905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Owner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Number of previous owners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Fuel Type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Petrol dominates the analyzed listings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325880"/>
          <a:ext cx="65836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909560" y="1508760"/>
            <a:ext cx="324612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10728" y="1673351"/>
            <a:ext cx="2843784" cy="1088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Petrol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239 cars</a:t>
            </a:r>
          </a:p>
          <a:p>
            <a:pPr>
              <a:defRPr sz="1000">
                <a:solidFill>
                  <a:srgbClr val="69737D"/>
                </a:solidFill>
              </a:defRPr>
            </a:pPr>
            <a:r>
              <a:t>Largest fuel category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3154680"/>
            <a:ext cx="324612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0728" y="3319272"/>
            <a:ext cx="2843784" cy="1088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Diesel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58 cars</a:t>
            </a:r>
          </a:p>
          <a:p>
            <a:pPr>
              <a:defRPr sz="1000">
                <a:solidFill>
                  <a:srgbClr val="69737D"/>
                </a:solidFill>
              </a:defRPr>
            </a:pPr>
            <a:r>
              <a:t>Second-largest category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4800600"/>
            <a:ext cx="3246120" cy="114300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10728" y="4965192"/>
            <a:ext cx="2843784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CNG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2 cars</a:t>
            </a:r>
          </a:p>
          <a:p>
            <a:pPr>
              <a:defRPr sz="1000">
                <a:solidFill>
                  <a:srgbClr val="69737D"/>
                </a:solidFill>
              </a:defRPr>
            </a:pPr>
            <a:r>
              <a:t>Smallest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Seller Type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Dealer listings are more common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417320"/>
          <a:ext cx="6400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818120" y="1828800"/>
            <a:ext cx="3291840" cy="14630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19288" y="1993392"/>
            <a:ext cx="2889504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Dealer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193 cars</a:t>
            </a:r>
          </a:p>
          <a:p>
            <a:pPr>
              <a:defRPr sz="1000">
                <a:solidFill>
                  <a:srgbClr val="69737D"/>
                </a:solidFill>
              </a:defRPr>
            </a:pPr>
            <a:r>
              <a:t>Majority of listings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657600"/>
            <a:ext cx="3291840" cy="14630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3822191"/>
            <a:ext cx="2889504" cy="11338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Individual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106 cars</a:t>
            </a:r>
          </a:p>
          <a:p>
            <a:pPr>
              <a:defRPr sz="1000">
                <a:solidFill>
                  <a:srgbClr val="69737D"/>
                </a:solidFill>
              </a:defRPr>
            </a:pPr>
            <a:r>
              <a:t>Substantial secondary 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Selling Price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Central tendency from the notebook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3246120" cy="155448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673351"/>
            <a:ext cx="2843784" cy="12252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Average Selling Price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₹4.59 lakh</a:t>
            </a:r>
          </a:p>
          <a:p>
            <a:pPr>
              <a:defRPr sz="1000">
                <a:solidFill>
                  <a:srgbClr val="69737D"/>
                </a:solidFill>
              </a:defRPr>
            </a:pPr>
            <a:r>
              <a:t>Mean reported by the analysis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08760"/>
            <a:ext cx="3246120" cy="155448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1673351"/>
            <a:ext cx="2843784" cy="12252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Median Selling Price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₹3.51 lakh</a:t>
            </a:r>
          </a:p>
          <a:p>
            <a:pPr>
              <a:defRPr sz="1000">
                <a:solidFill>
                  <a:srgbClr val="69737D"/>
                </a:solidFill>
              </a:defRPr>
            </a:pPr>
            <a:r>
              <a:t>Median reported by the analysis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08760"/>
            <a:ext cx="3246120" cy="155448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39328" y="1673351"/>
            <a:ext cx="2843784" cy="12252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Mean &gt; Median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Right-skewed tendency</a:t>
            </a:r>
          </a:p>
          <a:p>
            <a:pPr>
              <a:defRPr sz="1000">
                <a:solidFill>
                  <a:srgbClr val="69737D"/>
                </a:solidFill>
              </a:defRPr>
            </a:pPr>
            <a:r>
              <a:t>Higher-priced cars pull the mean upward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0149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A32"/>
                </a:solidFill>
              </a:defRPr>
            </a:pPr>
            <a:r>
              <a:t>• The notebook's descriptive statistics show a broad selling-price range from ₹0.1 lakh to ₹35 lakh.</a:t>
            </a:r>
          </a:p>
          <a:p>
            <a:pPr>
              <a:spcAft>
                <a:spcPts val="1400"/>
              </a:spcAft>
              <a:defRPr sz="1800">
                <a:solidFill>
                  <a:srgbClr val="232A32"/>
                </a:solidFill>
              </a:defRPr>
            </a:pPr>
            <a:r>
              <a:t>• The median is lower than the mean, indicating that the distribution is influenced by higher-priced vehicles.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Fuel Type &amp; Transmission vs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Distribution-focused comparisons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A32"/>
                </a:solidFill>
              </a:defRPr>
            </a:pPr>
            <a:r>
              <a:t>• A boxplot compares selling-price distributions across Petrol, Diesel and CNG vehicles.</a:t>
            </a:r>
          </a:p>
          <a:p>
            <a:pPr>
              <a:spcAft>
                <a:spcPts val="1400"/>
              </a:spcAft>
              <a:defRPr sz="1700">
                <a:solidFill>
                  <a:srgbClr val="232A32"/>
                </a:solidFill>
              </a:defRPr>
            </a:pPr>
            <a:r>
              <a:t>• A second boxplot compares selling-price distributions for Manual and Automatic transmissions.</a:t>
            </a:r>
          </a:p>
          <a:p>
            <a:pPr>
              <a:spcAft>
                <a:spcPts val="1400"/>
              </a:spcAft>
              <a:defRPr sz="1700">
                <a:solidFill>
                  <a:srgbClr val="232A32"/>
                </a:solidFill>
              </a:defRPr>
            </a:pPr>
            <a:r>
              <a:t>• These visualizations are intended to reveal differences in price spread and potential outliers.</a:t>
            </a:r>
          </a:p>
          <a:p>
            <a:pPr>
              <a:spcAft>
                <a:spcPts val="1400"/>
              </a:spcAft>
              <a:defRPr sz="1700">
                <a:solidFill>
                  <a:srgbClr val="232A32"/>
                </a:solidFill>
              </a:defRPr>
            </a:pPr>
            <a:r>
              <a:t>• The notebook presents distributions rather than fitting a predictive pricing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29400" y="1463040"/>
            <a:ext cx="4572000" cy="155448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30568" y="1627632"/>
            <a:ext cx="4169663" cy="12252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Fuel Type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Boxplot comparison</a:t>
            </a:r>
          </a:p>
          <a:p>
            <a:pPr>
              <a:defRPr sz="1000">
                <a:solidFill>
                  <a:srgbClr val="69737D"/>
                </a:solidFill>
              </a:defRPr>
            </a:pPr>
            <a:r>
              <a:t>Selling-price spread by fuel category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29400" y="3337560"/>
            <a:ext cx="4572000" cy="155448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0568" y="3502152"/>
            <a:ext cx="4169663" cy="12252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Transmission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Boxplot comparison</a:t>
            </a:r>
          </a:p>
          <a:p>
            <a:pPr>
              <a:defRPr sz="1000">
                <a:solidFill>
                  <a:srgbClr val="69737D"/>
                </a:solidFill>
              </a:defRPr>
            </a:pPr>
            <a:r>
              <a:t>Selling-price spread by transmission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5212080"/>
            <a:ext cx="4572000" cy="77724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30568" y="5376672"/>
            <a:ext cx="4169663" cy="4480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Interpretation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Compare median, spread and outliers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</a:defRPr>
            </a:pPr>
            <a:r>
              <a:t>Kilometers Driven vs Selling Price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Relationship explored with a scatter plot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32A32"/>
                </a:solidFill>
              </a:defRPr>
            </a:pPr>
            <a:r>
              <a:t>• The notebook plots Kms_Driven on the x-axis and Selling_Price on the y-axis.</a:t>
            </a:r>
          </a:p>
          <a:p>
            <a:pPr>
              <a:spcAft>
                <a:spcPts val="1400"/>
              </a:spcAft>
              <a:defRPr sz="1700">
                <a:solidFill>
                  <a:srgbClr val="232A32"/>
                </a:solidFill>
              </a:defRPr>
            </a:pPr>
            <a:r>
              <a:t>• The chart is used to visually inspect whether mileage is associated with resale price.</a:t>
            </a:r>
          </a:p>
          <a:p>
            <a:pPr>
              <a:spcAft>
                <a:spcPts val="1400"/>
              </a:spcAft>
              <a:defRPr sz="1700">
                <a:solidFill>
                  <a:srgbClr val="232A32"/>
                </a:solidFill>
              </a:defRPr>
            </a:pPr>
            <a:r>
              <a:t>• The analysis does not report a correlation coefficient or regression equation, so the relationship should be interpreted visually.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417320"/>
            <a:ext cx="512064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0488" y="1581912"/>
            <a:ext cx="4718303" cy="1088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Observed Kms_Driven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500 – 500,000 km</a:t>
            </a:r>
          </a:p>
          <a:p>
            <a:pPr>
              <a:defRPr sz="1000">
                <a:solidFill>
                  <a:srgbClr val="69737D"/>
                </a:solidFill>
              </a:defRPr>
            </a:pPr>
            <a:r>
              <a:t>Range shown in descriptive statistics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3154680"/>
            <a:ext cx="5120640" cy="141732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90488" y="3319272"/>
            <a:ext cx="4718303" cy="1088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Observed Selling Price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₹0.1 – ₹35 lakh</a:t>
            </a:r>
          </a:p>
          <a:p>
            <a:pPr>
              <a:defRPr sz="1000">
                <a:solidFill>
                  <a:srgbClr val="69737D"/>
                </a:solidFill>
              </a:defRPr>
            </a:pPr>
            <a:r>
              <a:t>Range shown in descriptive statistics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4892040"/>
            <a:ext cx="5120640" cy="914400"/>
          </a:xfrm>
          <a:prstGeom prst="roundRect">
            <a:avLst/>
          </a:prstGeom>
          <a:solidFill>
            <a:srgbClr val="F2F6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0488" y="5056631"/>
            <a:ext cx="4718303" cy="585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9737D"/>
                </a:solidFill>
              </a:defRPr>
            </a:pPr>
            <a:r>
              <a:t>Chart purpose</a:t>
            </a:r>
          </a:p>
          <a:p>
            <a:pPr>
              <a:defRPr sz="2500" b="1">
                <a:solidFill>
                  <a:srgbClr val="2D69B4"/>
                </a:solidFill>
              </a:defRPr>
            </a:pPr>
            <a:r>
              <a:t>Visual relationship inspection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24128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1800">
                <a:solidFill>
                  <a:srgbClr val="FFFFFF"/>
                </a:solidFill>
              </a:defRPr>
            </a:pPr>
            <a:r>
              <a:t>• Petrol is the dominant fuel type with 239 listings, followed by Diesel with 58.</a:t>
            </a:r>
          </a:p>
          <a:p>
            <a:pPr>
              <a:spcAft>
                <a:spcPts val="1800"/>
              </a:spcAft>
              <a:defRPr sz="1800">
                <a:solidFill>
                  <a:srgbClr val="FFFFFF"/>
                </a:solidFill>
              </a:defRPr>
            </a:pPr>
            <a:r>
              <a:t>• Dealer listings (193) outnumber individual listings (106).</a:t>
            </a:r>
          </a:p>
          <a:p>
            <a:pPr>
              <a:spcAft>
                <a:spcPts val="1800"/>
              </a:spcAft>
              <a:defRPr sz="1800">
                <a:solidFill>
                  <a:srgbClr val="FFFFFF"/>
                </a:solidFill>
              </a:defRPr>
            </a:pPr>
            <a:r>
              <a:t>• Average selling price is ₹4.59 lakh, while median selling price is ₹3.51 lakh.</a:t>
            </a:r>
          </a:p>
          <a:p>
            <a:pPr>
              <a:spcAft>
                <a:spcPts val="1800"/>
              </a:spcAft>
              <a:defRPr sz="1800">
                <a:solidFill>
                  <a:srgbClr val="FFFFFF"/>
                </a:solidFill>
              </a:defRPr>
            </a:pPr>
            <a:r>
              <a:t>• The notebook includes price comparisons by fuel type and transmission, plus mileage-vs-price visualization.</a:t>
            </a:r>
          </a:p>
          <a:p>
            <a:pPr>
              <a:spcAft>
                <a:spcPts val="1800"/>
              </a:spcAft>
              <a:defRPr sz="1800">
                <a:solidFill>
                  <a:srgbClr val="FFFFFF"/>
                </a:solidFill>
              </a:defRPr>
            </a:pPr>
            <a:r>
              <a:t>• The workflow demonstrates a complete EDA pipeline: loading → cleaning → analysis → visualization.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9788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9CDE6"/>
                </a:solidFill>
              </a:defRPr>
            </a:pPr>
            <a:r>
              <a:t>Source: Uploaded CarDekho.ipynb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973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